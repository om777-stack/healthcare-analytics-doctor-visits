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5"/>
  </p:notesMasterIdLst>
  <p:handoutMasterIdLst>
    <p:handoutMasterId r:id="rId16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0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5033" autoAdjust="0"/>
  </p:normalViewPr>
  <p:slideViewPr>
    <p:cSldViewPr snapToGrid="0">
      <p:cViewPr varScale="1">
        <p:scale>
          <a:sx n="73" d="100"/>
          <a:sy n="73" d="100"/>
        </p:scale>
        <p:origin x="212" y="5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10/23/2026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10/23/2026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m777-Stack/Healthcare-Analytics-Doctor-Visit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github.com/Om777-Stack/Healthcare-Analytics-Doctor-Visits-TIRT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0000" y="4200000"/>
            <a:ext cx="7600000" cy="1000000"/>
          </a:xfrm>
        </p:spPr>
        <p:txBody>
          <a:bodyPr wrap="square">
            <a:normAutofit lnSpcReduction="10000"/>
          </a:bodyPr>
          <a:lstStyle/>
          <a:p>
            <a:pPr algn="l"/>
            <a:r>
              <a:rPr sz="1600" b="1" dirty="0">
                <a:latin typeface="Times New Roman"/>
              </a:rPr>
              <a:t>Om Chandrakant Bagal</a:t>
            </a:r>
            <a:endParaRPr lang="en-IN" b="0" dirty="0">
              <a:solidFill>
                <a:schemeClr val="tx1"/>
              </a:solidFill>
            </a:endParaRPr>
          </a:p>
          <a:p>
            <a:pPr algn="l"/>
            <a:r>
              <a:rPr sz="1600" b="0" dirty="0">
                <a:latin typeface="Times New Roman"/>
              </a:rPr>
              <a:t>COEP Technological University, Pune</a:t>
            </a:r>
          </a:p>
          <a:p>
            <a:pPr algn="l"/>
            <a:r>
              <a:rPr sz="1400" b="0" dirty="0">
                <a:latin typeface="Times New Roman"/>
              </a:rPr>
              <a:t>TIRTC </a:t>
            </a:r>
            <a:r>
              <a:rPr sz="1400" b="0" dirty="0" err="1">
                <a:latin typeface="Times New Roman"/>
              </a:rPr>
              <a:t>Programme</a:t>
            </a:r>
            <a:endParaRPr sz="1400" b="0" dirty="0">
              <a:latin typeface="Times New Roman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000" y="2800000"/>
            <a:ext cx="7700000" cy="1200000"/>
          </a:xfrm>
        </p:spPr>
        <p:txBody>
          <a:bodyPr wrap="square">
            <a:normAutofit/>
          </a:bodyPr>
          <a:lstStyle/>
          <a:p>
            <a:pPr algn="l"/>
            <a:r>
              <a:rPr sz="2800" b="1">
                <a:latin typeface="Times New Roman"/>
              </a:rPr>
              <a:t>Project Title - Healthcare Analytics for Doctor Visits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2200000"/>
            <a:ext cx="6431280" cy="3607987"/>
          </a:xfrm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600" dirty="0">
                <a:latin typeface="Times New Roman"/>
              </a:rPr>
              <a:t>Most people never see a doctor in this dataset, and a few go many times. Of 5,190 people, 79.8% had no visit and the heaviest user had 9. The raw records do not say which health, income, age or coverage factors go with more visits.</a:t>
            </a:r>
            <a:endParaRPr lang="en-IN" sz="2800" dirty="0"/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600" dirty="0">
                <a:latin typeface="Times New Roman"/>
              </a:rPr>
              <a:t>I </a:t>
            </a:r>
            <a:r>
              <a:rPr sz="1600" dirty="0" err="1">
                <a:latin typeface="Times New Roman"/>
              </a:rPr>
              <a:t>analyse</a:t>
            </a:r>
            <a:r>
              <a:rPr sz="1600" dirty="0">
                <a:latin typeface="Times New Roman"/>
              </a:rPr>
              <a:t> the patient records to find patterns in doctor visits. I also check which factors still matter once the others are held fixed, and which only looked important because they overlap with something else.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600" dirty="0">
                <a:latin typeface="Times New Roman"/>
              </a:rPr>
              <a:t>why do some people visit a doctor more often than others?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 wrap="square">
            <a:normAutofit/>
          </a:bodyPr>
          <a:lstStyle/>
          <a:p>
            <a:r>
              <a:rPr sz="2800" b="1">
                <a:latin typeface="Times New Roman"/>
              </a:rPr>
              <a:t>PROBLEM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300000"/>
            <a:ext cx="6276109" cy="830997"/>
          </a:xfrm>
        </p:spPr>
        <p:txBody>
          <a:bodyPr wrap="square">
            <a:normAutofit/>
          </a:bodyPr>
          <a:lstStyle/>
          <a:p>
            <a:r>
              <a:rPr sz="2800" b="1">
                <a:latin typeface="Times New Roman"/>
              </a:rPr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0000" y="100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latin typeface="Times New Roman"/>
              </a:rPr>
              <a:t>Which factors go with more doctor visits among 5,190 people?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00" y="2100000"/>
            <a:ext cx="83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600" b="0">
                <a:latin typeface="Times New Roman"/>
              </a:rPr>
              <a:t>Data: 5,190 people and 13 columns: doctor visits, gender, age, income, illnesses, lost activity days, health score, private and free cover, and two chronic-condition flags. Nothing was missing or duplicated, so I changed no records.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600" b="0">
                <a:latin typeface="Times New Roman"/>
              </a:rPr>
              <a:t>Outcome: 79.8% had no visit and 20.2% had at least one. Most values are zero, so the main outcome is the share who visited at least once.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600" b="0">
                <a:latin typeface="Times New Roman"/>
              </a:rPr>
              <a:t>Method: chi-square and Mann-Whitney tests for group differences, Spearman correlation, and a logistic regression that holds all variables fixed together.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600" b="0">
                <a:latin typeface="Times New Roman"/>
              </a:rPr>
              <a:t>Results: illness count, lost activity days and health score matter most and stay significant after adjustment. Women visit more. Free-repatriation cover goes with more visits. The chronic-condition gap shrinks once illness is held fixed.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600" b="0">
                <a:latin typeface="Times New Roman"/>
              </a:rPr>
              <a:t>Deliverables: the Jupyter notebook with code and charts on GitHub, plus this deck.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sz="1600">
                <a:latin typeface="Times New Roman"/>
              </a:rPr>
              <a:t>Health insurers: see which groups use doctors more and plan coverage around them.</a:t>
            </a:r>
            <a:endParaRPr lang="en-IN" sz="3600" dirty="0"/>
          </a:p>
          <a:p>
            <a:r>
              <a:rPr sz="1600">
                <a:latin typeface="Times New Roman"/>
              </a:rPr>
              <a:t>Hospital and clinic managers: plan staff and appointment slots for groups that visit often.</a:t>
            </a:r>
          </a:p>
          <a:p>
            <a:r>
              <a:rPr sz="1600">
                <a:latin typeface="Times New Roman"/>
              </a:rPr>
              <a:t>Public health planners: focus outreach on groups with several illnesses or many lost activity days.</a:t>
            </a:r>
          </a:p>
          <a:p>
            <a:r>
              <a:rPr sz="1600">
                <a:latin typeface="Times New Roman"/>
              </a:rPr>
              <a:t>Students and researchers: a worked example of analysing zero-heavy count data and checking overlapping factors.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 wrap="square">
            <a:normAutofit/>
          </a:bodyPr>
          <a:lstStyle/>
          <a:p>
            <a:r>
              <a:rPr sz="2800" b="1">
                <a:latin typeface="Times New Roman"/>
              </a:rPr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00000" y="1450000"/>
            <a:ext cx="6900000" cy="4600000"/>
          </a:xfrm>
        </p:spPr>
        <p:txBody>
          <a:bodyPr wrap="square"/>
          <a:lstStyle/>
          <a:p>
            <a:pPr>
              <a:lnSpc>
                <a:spcPct val="150000"/>
              </a:lnSpc>
            </a:pPr>
            <a:r>
              <a:rPr sz="1600">
                <a:latin typeface="Times New Roman"/>
              </a:rPr>
              <a:t>Python 3: loading, checks and analysis</a:t>
            </a:r>
            <a:endParaRPr lang="en-IN" dirty="0"/>
          </a:p>
          <a:p>
            <a:r>
              <a:rPr sz="1600">
                <a:latin typeface="Times New Roman"/>
              </a:rPr>
              <a:t>Pandas and NumPy: data handling, grouping and summaries</a:t>
            </a:r>
          </a:p>
          <a:p>
            <a:r>
              <a:rPr sz="1600">
                <a:latin typeface="Times New Roman"/>
              </a:rPr>
              <a:t>Matplotlib and Seaborn: charts and the correlation heatmap</a:t>
            </a:r>
          </a:p>
          <a:p>
            <a:r>
              <a:rPr sz="1600">
                <a:latin typeface="Times New Roman"/>
              </a:rPr>
              <a:t>SciPy: chi-square, Mann-Whitney and Spearman tests</a:t>
            </a:r>
          </a:p>
          <a:p>
            <a:r>
              <a:rPr sz="1600">
                <a:latin typeface="Times New Roman"/>
              </a:rPr>
              <a:t>Statsmodels: logistic regression for the adjusted analysis</a:t>
            </a:r>
          </a:p>
          <a:p>
            <a:r>
              <a:rPr sz="1600">
                <a:latin typeface="Times New Roman"/>
              </a:rPr>
              <a:t>Jupyter Notebook and GitHub: code others can rerun</a:t>
            </a:r>
          </a:p>
          <a:p>
            <a:r>
              <a:rPr sz="1600">
                <a:latin typeface="Times New Roman"/>
              </a:rPr>
              <a:t>Microsoft PowerPoint: presentation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 wrap="square">
            <a:normAutofit/>
          </a:bodyPr>
          <a:lstStyle/>
          <a:p>
            <a:r>
              <a:rPr sz="2800" b="1">
                <a:latin typeface="Times New Roman"/>
              </a:rPr>
              <a:t>Technology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00" y="370589"/>
            <a:ext cx="8200000" cy="830997"/>
          </a:xfrm>
        </p:spPr>
        <p:txBody>
          <a:bodyPr wrap="square">
            <a:normAutofit/>
          </a:bodyPr>
          <a:lstStyle/>
          <a:p>
            <a:r>
              <a:rPr sz="2800" b="1">
                <a:latin typeface="Times New Roman"/>
              </a:rPr>
              <a:t>RESULTS 1: Data and Visit Pattern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0000" y="1130000"/>
            <a:ext cx="8200000" cy="500000"/>
          </a:xfrm>
        </p:spPr>
        <p:txBody>
          <a:bodyPr wrap="square"/>
          <a:lstStyle/>
          <a:p>
            <a:pPr marL="0" indent="0">
              <a:buNone/>
            </a:pPr>
            <a:r>
              <a:rPr sz="1600">
                <a:latin typeface="Times New Roman"/>
              </a:rPr>
              <a:t>79.8% of people had no doctor visit. A few heavy users account for a large share of all visits.</a:t>
            </a:r>
            <a:endParaRPr lang="en-IN" dirty="0"/>
          </a:p>
        </p:txBody>
      </p:sp>
      <p:pic>
        <p:nvPicPr>
          <p:cNvPr id="31" name="Picture 30" descr="fig1_out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00" y="2050000"/>
            <a:ext cx="8200000" cy="286025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0000" y="5000000"/>
            <a:ext cx="82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400"/>
              </a:spcAft>
              <a:buChar char="•"/>
            </a:pPr>
            <a:r>
              <a:rPr sz="1500" b="0">
                <a:latin typeface="Times New Roman"/>
              </a:rPr>
              <a:t>5,190 people, 13 columns, 0 missing values, 0 duplicate rows. I did no cleaning.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 b="0">
                <a:latin typeface="Times New Roman"/>
              </a:rPr>
              <a:t>Mean 0.30 visits, maximum 9. 1,049 people (20.2%) visited at least once and averaged 1.49 visits.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 b="0">
                <a:latin typeface="Times New Roman"/>
              </a:rPr>
              <a:t>93 people (1.8%) made 3 or more visits. They account for 436 of the 1,566 visits (27.8%).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00" y="370589"/>
            <a:ext cx="8200000" cy="830997"/>
          </a:xfrm>
        </p:spPr>
        <p:txBody>
          <a:bodyPr wrap="square">
            <a:normAutofit/>
          </a:bodyPr>
          <a:lstStyle/>
          <a:p>
            <a:r>
              <a:rPr sz="2800" b="1">
                <a:latin typeface="Times New Roman"/>
              </a:rPr>
              <a:t>RESULTS 2: Health Indicators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0000" y="1130000"/>
            <a:ext cx="8200000" cy="500000"/>
          </a:xfrm>
        </p:spPr>
        <p:txBody>
          <a:bodyPr wrap="square"/>
          <a:lstStyle/>
          <a:p>
            <a:pPr marL="0" indent="0">
              <a:buNone/>
            </a:pPr>
            <a:r>
              <a:rPr sz="1600">
                <a:latin typeface="Times New Roman"/>
              </a:rPr>
              <a:t>More illnesses, more lost activity days and a worse health score all go with more visits.</a:t>
            </a:r>
            <a:endParaRPr lang="en-IN" dirty="0"/>
          </a:p>
        </p:txBody>
      </p:sp>
      <p:pic>
        <p:nvPicPr>
          <p:cNvPr id="11" name="Picture 10" descr="fig5_heal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00" y="2050000"/>
            <a:ext cx="8200000" cy="30897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0000" y="5150000"/>
            <a:ext cx="82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400"/>
              </a:spcAft>
              <a:buChar char="•"/>
            </a:pPr>
            <a:r>
              <a:rPr sz="1400" b="0">
                <a:latin typeface="Times New Roman"/>
              </a:rPr>
              <a:t>Share visiting: 6.8% with 0 illnesses, 41.9% with 5. 15.2% with no lost activity days, 69.4% with 8-13 days.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 b="0">
                <a:latin typeface="Times New Roman"/>
              </a:rPr>
              <a:t>Spearman correlation with visits: lost days 0.34, illnesses 0.26, health score 0.18 (all p &lt; 0.001).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 b="0">
                <a:latin typeface="Times New Roman"/>
              </a:rPr>
              <a:t>Age and income links are weaker: 14.7% visited at 25 or under vs 30.2% at 66+; 25.6% in the lowest income quartile vs 15.7% in the highest.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00" y="370589"/>
            <a:ext cx="8200000" cy="830997"/>
          </a:xfrm>
        </p:spPr>
        <p:txBody>
          <a:bodyPr wrap="square">
            <a:normAutofit/>
          </a:bodyPr>
          <a:lstStyle/>
          <a:p>
            <a:r>
              <a:rPr sz="2800" b="1">
                <a:latin typeface="Times New Roman"/>
              </a:rPr>
              <a:t>RESULTS 3: Gender, Coverage, Chronic Groups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0000" y="1130000"/>
            <a:ext cx="8200000" cy="800000"/>
          </a:xfrm>
        </p:spPr>
        <p:txBody>
          <a:bodyPr wrap="square"/>
          <a:lstStyle/>
          <a:p>
            <a:pPr marL="0" indent="0">
              <a:buNone/>
            </a:pPr>
            <a:r>
              <a:rPr sz="1600">
                <a:latin typeface="Times New Roman"/>
              </a:rPr>
              <a:t>Women, people with free-repatriation cover and people with a limiting chronic condition visit more. Private cover shows no difference.</a:t>
            </a:r>
            <a:endParaRPr lang="en-IN" dirty="0"/>
          </a:p>
        </p:txBody>
      </p:sp>
      <p:pic>
        <p:nvPicPr>
          <p:cNvPr id="11" name="Picture 10" descr="fig6_fl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00" y="2050000"/>
            <a:ext cx="8200000" cy="42902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00" y="370589"/>
            <a:ext cx="8200000" cy="830997"/>
          </a:xfrm>
        </p:spPr>
        <p:txBody>
          <a:bodyPr wrap="square">
            <a:normAutofit/>
          </a:bodyPr>
          <a:lstStyle/>
          <a:p>
            <a:r>
              <a:rPr sz="2800" b="1">
                <a:latin typeface="Times New Roman"/>
              </a:rPr>
              <a:t>RESULTS 4: Adjusted Analysis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0000" y="1130000"/>
            <a:ext cx="8200000" cy="700000"/>
          </a:xfrm>
        </p:spPr>
        <p:txBody>
          <a:bodyPr wrap="square"/>
          <a:lstStyle/>
          <a:p>
            <a:pPr marL="0" indent="0">
              <a:buNone/>
            </a:pPr>
            <a:r>
              <a:rPr sz="1600">
                <a:latin typeface="Times New Roman"/>
              </a:rPr>
              <a:t>With all variables held fixed together, health measures, gender and coverage type still go with visits.</a:t>
            </a:r>
            <a:endParaRPr lang="en-IN" dirty="0"/>
          </a:p>
        </p:txBody>
      </p:sp>
      <p:pic>
        <p:nvPicPr>
          <p:cNvPr id="11" name="Picture 10" descr="fig9_adjus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00" y="2050000"/>
            <a:ext cx="4600000" cy="28381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0" y="2150000"/>
            <a:ext cx="35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500"/>
              </a:spcAft>
              <a:buChar char="•"/>
            </a:pPr>
            <a:r>
              <a:rPr sz="1400" b="0">
                <a:latin typeface="Times New Roman"/>
              </a:rPr>
              <a:t>Still significant: illness (odds ratio 1.31 per illness), lost days (1.17 per day), health score (1.06), male (0.77), free-repatriation cover (1.52), free-poor cover (0.50, only 222 people).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400" b="0">
                <a:latin typeface="Times New Roman"/>
              </a:rPr>
              <a:t>Weaker: the chronic-limitation gap falls from 35.0% vs 18.3% to an odds ratio of 1.27 (p = 0.059). Age and income lose significance.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400" b="0">
                <a:latin typeface="Times New Roman"/>
              </a:rPr>
              <a:t>Private cover: no raw gap, but an odds ratio of 1.30 after adjustment. Treat with caution.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000" y="5150000"/>
            <a:ext cx="82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400"/>
              </a:spcAft>
              <a:buChar char="•"/>
            </a:pPr>
            <a:r>
              <a:rPr sz="1400" b="0">
                <a:latin typeface="Times New Roman"/>
              </a:rPr>
              <a:t>Health measures give the clearest signal: illness, lost activity days and health score.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 b="0">
                <a:latin typeface="Times New Roman"/>
              </a:rPr>
              <a:t>The model explains little (pseudo R-squared 0.13). Most of what decides who visits is not in this data.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 b="0">
                <a:latin typeface="Times New Roman"/>
              </a:rPr>
              <a:t>Odds ratios compare people who differ by one illness, one lost day, one score point or 10 years of 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000" y="350000"/>
            <a:ext cx="8300000" cy="80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/>
            <a:r>
              <a:rPr sz="2800" b="1" dirty="0">
                <a:solidFill>
                  <a:srgbClr val="000000"/>
                </a:solidFill>
                <a:latin typeface="Times New Roman"/>
              </a:rPr>
              <a:t>Limitations, Future Scope</a:t>
            </a:r>
            <a:endParaRPr lang="en-US" sz="4800" b="1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300000" y="1250000"/>
            <a:ext cx="760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latin typeface="Times New Roman"/>
              </a:rPr>
              <a:t>Limitations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600" b="0">
                <a:latin typeface="Times New Roman"/>
              </a:rPr>
              <a:t>One snapshot of data, so the results show associations and no cause can be proven.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600" b="0">
                <a:latin typeface="Times New Roman"/>
              </a:rPr>
              <a:t>The guide does not state the period behind 'visits' or the units of age and income. I assumed age = years / 100.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600" b="0">
                <a:latin typeface="Times New Roman"/>
              </a:rPr>
              <a:t>Free-poor cover covers only 222 people, so its estimate is uncertain. Most visit counts are zero.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latin typeface="Times New Roman"/>
              </a:rPr>
              <a:t>Future scope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600" b="0">
                <a:latin typeface="Times New Roman"/>
              </a:rPr>
              <a:t>Fit a count model built for many zeros (zero-inflated Poisson or negative binomial).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600" b="0">
                <a:latin typeface="Times New Roman"/>
              </a:rPr>
              <a:t>Add cost, diagnosis and access-to-care data, and confirm the variable definitions with the data owner.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600" b="0">
                <a:latin typeface="Times New Roman"/>
              </a:rPr>
              <a:t>Build a dashboard where planners filter by age, health and coverage group.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00000" y="5100000"/>
            <a:ext cx="76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Times New Roman"/>
              </a:rPr>
              <a:t>Github</a:t>
            </a:r>
            <a:r>
              <a:rPr lang="en-US" sz="1400" dirty="0">
                <a:latin typeface="Times New Roman"/>
              </a:rPr>
              <a:t> link :- </a:t>
            </a:r>
            <a:r>
              <a:rPr sz="1400" b="0" dirty="0">
                <a:latin typeface="Times New Roman"/>
              </a:rPr>
              <a:t> </a:t>
            </a:r>
            <a:r>
              <a:rPr lang="en-US" sz="1400" b="0" dirty="0">
                <a:latin typeface="Times New Roman"/>
              </a:rPr>
              <a:t>https://github.com/Om777-Stack/</a:t>
            </a:r>
            <a:r>
              <a:rPr lang="en-US" sz="1400" b="0" dirty="0">
                <a:latin typeface="Times New Roman"/>
                <a:hlinkClick r:id="rId3"/>
              </a:rPr>
              <a:t>Healthcare-Analytics-Doctor-Visits</a:t>
            </a:r>
            <a:endParaRPr sz="1400" b="0" dirty="0">
              <a:latin typeface="Times New Roman"/>
              <a:hlinkClick r:id="rId4"/>
            </a:endParaRP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562</TotalTime>
  <Words>957</Words>
  <Application>Microsoft Office PowerPoint</Application>
  <PresentationFormat>Widescreen</PresentationFormat>
  <Paragraphs>59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Project Title - Healthcare Analytics for Doctor Visits</vt:lpstr>
      <vt:lpstr>PROBLEM STATEMENT</vt:lpstr>
      <vt:lpstr>Project Description</vt:lpstr>
      <vt:lpstr>WHO ARE THE END USERS?</vt:lpstr>
      <vt:lpstr>Technology Used</vt:lpstr>
      <vt:lpstr>RESULTS 1: Data and Visit Pattern</vt:lpstr>
      <vt:lpstr>RESULTS 2: Health Indicators</vt:lpstr>
      <vt:lpstr>RESULTS 3: Gender, Coverage, Chronic Groups</vt:lpstr>
      <vt:lpstr>RESULTS 4: Adjusted Analysis</vt:lpstr>
      <vt:lpstr>Limitations,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Om Bagal</cp:lastModifiedBy>
  <cp:revision>75</cp:revision>
  <dcterms:created xsi:type="dcterms:W3CDTF">2021-07-11T13:13:15Z</dcterms:created>
  <dcterms:modified xsi:type="dcterms:W3CDTF">2026-10-23T07:55:24Z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