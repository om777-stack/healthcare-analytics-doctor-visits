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.jfif" ContentType="image/jpe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2"/>
  </p:notesMasterIdLst>
  <p:handoutMasterIdLst>
    <p:handoutMasterId r:id="rId13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0" r:id="rId19"/>
    <p:sldId id="341" r:id="rId20"/>
    <p:sldId id="342" r:id="rId21"/>
    <p:sldId id="30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67BBC5-90FB-0B4C-ED85-F72C7BA7CE4A}" v="1" dt="2022-06-06T12:10:26.221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69" d="100"/>
          <a:sy n="69" d="100"/>
        </p:scale>
        <p:origin x="484" y="44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notesMaster" Target="notesMasters/notesMaster1.xml"/><Relationship Id="rId13" Type="http://schemas.openxmlformats.org/officeDocument/2006/relationships/handoutMaster" Target="handoutMasters/handout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12/29/2023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12/29/2023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12/29/2023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12/29/2023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12/29/2023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12/29/2023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12/29/2023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12/29/2023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12/29/2023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12/29/2023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12/29/2023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.jf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2.png"/><Relationship Id="rId3" Type="http://schemas.openxmlformats.org/officeDocument/2006/relationships/image" Target="../media/image1.jf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jfif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jfif"/><Relationship Id="rId3" Type="http://schemas.openxmlformats.org/officeDocument/2006/relationships/hyperlink" Target="abc" TargetMode="External"/><Relationship Id="rId4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image" Target="../media/image1.jfif"/><Relationship Id="rId3" Type="http://schemas.openxmlformats.org/officeDocument/2006/relationships/hyperlink" Target="https://github.com/Om777-Stack/Healthcare-Analytics-Doctor-Visits-TIRTC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jfif"/><Relationship Id="rId3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jfif"/><Relationship Id="rId3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.jfif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00000" y="4200000"/>
            <a:ext cx="7600000" cy="1000000"/>
          </a:xfrm>
        </p:spPr>
        <p:txBody>
          <a:bodyPr wrap="square"/>
          <a:lstStyle/>
          <a:p>
            <a:pPr algn="l"/>
            <a:r>
              <a:rPr sz="1600" b="1">
                <a:latin typeface="Times New Roman"/>
              </a:rPr>
              <a:t>Om Chandrakant Bagal</a:t>
            </a:r>
            <a:endParaRPr lang="en-IN" b="0" dirty="0">
              <a:solidFill>
                <a:schemeClr val="tx1"/>
              </a:solidFill>
            </a:endParaRPr>
          </a:p>
          <a:p>
            <a:pPr algn="l"/>
            <a:r>
              <a:rPr sz="1600" b="0">
                <a:latin typeface="Times New Roman"/>
              </a:rPr>
              <a:t>COEP Technological University, Pune</a:t>
            </a:r>
          </a:p>
          <a:p>
            <a:pPr algn="l"/>
            <a:r>
              <a:rPr sz="1400" b="0">
                <a:latin typeface="Times New Roman"/>
              </a:rPr>
              <a:t>TIRTC Programme (AICTE 4-week programme extended to 8 weeks)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0000" y="2800000"/>
            <a:ext cx="7700000" cy="1200000"/>
          </a:xfrm>
        </p:spPr>
        <p:txBody>
          <a:bodyPr wrap="square">
            <a:normAutofit/>
          </a:bodyPr>
          <a:lstStyle/>
          <a:p>
            <a:pPr algn="l"/>
            <a:r>
              <a:rPr sz="2800" b="1">
                <a:latin typeface="Times New Roman"/>
              </a:rPr>
              <a:t>Project Title - Healthcare Analytics for Doctor Visits</a:t>
            </a:r>
            <a:endParaRPr lang="en-IN" sz="3200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46480" y="2200000"/>
            <a:ext cx="6431280" cy="3607987"/>
          </a:xfrm>
        </p:spPr>
        <p:txBody>
          <a:bodyPr wrap="square"/>
          <a:lstStyle/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1600">
                <a:latin typeface="Times New Roman"/>
              </a:rPr>
              <a:t>Most people never see a doctor in this dataset, and a few go many times. Of 5,190 people, 79.8% had no visit and the heaviest user had 9. The raw records do not say which health, income, age or coverage factors go with more visits.</a:t>
            </a:r>
            <a:endParaRPr lang="en-IN" sz="2800" dirty="0"/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1600">
                <a:latin typeface="Times New Roman"/>
              </a:rPr>
              <a:t>I analyse the patient records to find patterns in doctor visits. I also check which factors still matter once the others are held fixed, and which only looked important because they overlap with something else.</a:t>
            </a:r>
          </a:p>
          <a:p>
            <a:pPr>
              <a:lnSpc>
                <a:spcPct val="100000"/>
              </a:lnSpc>
              <a:spcAft>
                <a:spcPts val="800"/>
              </a:spcAft>
            </a:pPr>
            <a:r>
              <a:rPr sz="1600">
                <a:latin typeface="Times New Roman"/>
              </a:rPr>
              <a:t>Guiding question: why do some people visit a doctor more often than others?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 wrap="square">
            <a:normAutofit fontScale="90000"/>
          </a:bodyPr>
          <a:lstStyle/>
          <a:p>
            <a:pPr/>
            <a:r>
              <a:rPr sz="2800" b="1">
                <a:latin typeface="Times New Roman"/>
              </a:rPr>
              <a:t>PROBLEM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300000"/>
            <a:ext cx="6276109" cy="830997"/>
          </a:xfrm>
        </p:spPr>
        <p:txBody>
          <a:bodyPr wrap="square">
            <a:normAutofit fontScale="90000"/>
          </a:bodyPr>
          <a:lstStyle/>
          <a:p>
            <a:pPr/>
            <a:r>
              <a:rPr sz="2800" b="1">
                <a:latin typeface="Times New Roman"/>
              </a:rPr>
              <a:t>Project Description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20000" y="1000000"/>
            <a:ext cx="83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600" b="1">
                <a:latin typeface="Times New Roman"/>
              </a:rPr>
              <a:t>Which factors go with more doctor visits among 5,190 people?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0000" y="2100000"/>
            <a:ext cx="8300000" cy="4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buChar char="•"/>
            </a:pPr>
            <a:r>
              <a:rPr sz="1600" b="0">
                <a:latin typeface="Times New Roman"/>
              </a:rPr>
              <a:t>Data: 5,190 people and 13 columns: doctor visits, gender, age, income, illnesses, lost activity days, health score, private and free cover, and two chronic-condition flags. Nothing was missing or duplicated, so I changed no records.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600" b="0">
                <a:latin typeface="Times New Roman"/>
              </a:rPr>
              <a:t>Outcome: 79.8% had no visit and 20.2% had at least one. Most values are zero, so the main outcome is the share who visited at least once.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600" b="0">
                <a:latin typeface="Times New Roman"/>
              </a:rPr>
              <a:t>Method: chi-square and Mann-Whitney tests for group differences, Spearman correlation, and a logistic regression that holds all variables fixed together.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600" b="0">
                <a:latin typeface="Times New Roman"/>
              </a:rPr>
              <a:t>Results: illness count, lost activity days and health score matter most and stay significant after adjustment. Women visit more. Free-repatriation cover goes with more visits. The chronic-condition gap shrinks once illness is held fixed.</a:t>
            </a:r>
          </a:p>
          <a:p>
            <a:pPr marL="228600" indent="-228600">
              <a:spcAft>
                <a:spcPts val="800"/>
              </a:spcAft>
              <a:buChar char="•"/>
            </a:pPr>
            <a:r>
              <a:rPr sz="1600" b="0">
                <a:latin typeface="Times New Roman"/>
              </a:rPr>
              <a:t>Deliverables: the Jupyter notebook with code and charts on GitHub, plus this deck.</a:t>
            </a:r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1991360"/>
            <a:ext cx="7904481" cy="3990023"/>
          </a:xfrm>
        </p:spPr>
        <p:txBody>
          <a:bodyPr wrap="square">
            <a:normAutofit/>
          </a:bodyPr>
          <a:lstStyle/>
          <a:p>
            <a:pPr algn="just">
              <a:lnSpc>
                <a:spcPct val="150000"/>
              </a:lnSpc>
            </a:pPr>
            <a:r>
              <a:rPr sz="1600">
                <a:latin typeface="Times New Roman"/>
              </a:rPr>
              <a:t>Health insurers: see which groups use doctors more and plan coverage around them.</a:t>
            </a:r>
            <a:endParaRPr lang="en-IN" sz="3600" dirty="0"/>
          </a:p>
          <a:p>
            <a:pPr/>
            <a:r>
              <a:rPr sz="1600">
                <a:latin typeface="Times New Roman"/>
              </a:rPr>
              <a:t>Hospital and clinic managers: plan staff and appointment slots for groups that visit often.</a:t>
            </a:r>
          </a:p>
          <a:p>
            <a:pPr/>
            <a:r>
              <a:rPr sz="1600">
                <a:latin typeface="Times New Roman"/>
              </a:rPr>
              <a:t>Public health planners: focus outreach on groups with several illnesses or many lost activity days.</a:t>
            </a:r>
          </a:p>
          <a:p>
            <a:pPr/>
            <a:r>
              <a:rPr sz="1600">
                <a:latin typeface="Times New Roman"/>
              </a:rPr>
              <a:t>Students and researchers: a worked example of analysing zero-heavy count data and checking overlapping factors.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 wrap="square">
            <a:normAutofit/>
          </a:bodyPr>
          <a:lstStyle/>
          <a:p>
            <a:pPr/>
            <a:r>
              <a:rPr sz="2800" b="1">
                <a:latin typeface="Times New Roman"/>
              </a:rPr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000000" y="1450000"/>
            <a:ext cx="6900000" cy="4600000"/>
          </a:xfrm>
        </p:spPr>
        <p:txBody>
          <a:bodyPr wrap="square"/>
          <a:lstStyle/>
          <a:p>
            <a:pPr>
              <a:lnSpc>
                <a:spcPct val="150000"/>
              </a:lnSpc>
            </a:pPr>
            <a:r>
              <a:rPr sz="1600">
                <a:latin typeface="Times New Roman"/>
              </a:rPr>
              <a:t>Python 3: loading, checks and analysis</a:t>
            </a:r>
            <a:endParaRPr lang="en-IN" dirty="0"/>
          </a:p>
          <a:p>
            <a:pPr/>
            <a:r>
              <a:rPr sz="1600">
                <a:latin typeface="Times New Roman"/>
              </a:rPr>
              <a:t>Pandas and NumPy: data handling, grouping and summaries</a:t>
            </a:r>
          </a:p>
          <a:p>
            <a:pPr/>
            <a:r>
              <a:rPr sz="1600">
                <a:latin typeface="Times New Roman"/>
              </a:rPr>
              <a:t>Matplotlib and Seaborn: charts and the correlation heatmap</a:t>
            </a:r>
          </a:p>
          <a:p>
            <a:pPr/>
            <a:r>
              <a:rPr sz="1600">
                <a:latin typeface="Times New Roman"/>
              </a:rPr>
              <a:t>SciPy: chi-square, Mann-Whitney and Spearman tests</a:t>
            </a:r>
          </a:p>
          <a:p>
            <a:pPr/>
            <a:r>
              <a:rPr sz="1600">
                <a:latin typeface="Times New Roman"/>
              </a:rPr>
              <a:t>Statsmodels: logistic regression for the adjusted analysis</a:t>
            </a:r>
          </a:p>
          <a:p>
            <a:pPr/>
            <a:r>
              <a:rPr sz="1600">
                <a:latin typeface="Times New Roman"/>
              </a:rPr>
              <a:t>Jupyter Notebook and GitHub: code others can rerun</a:t>
            </a:r>
          </a:p>
          <a:p>
            <a:pPr/>
            <a:r>
              <a:rPr sz="1600">
                <a:latin typeface="Times New Roman"/>
              </a:rPr>
              <a:t>Microsoft PowerPoint: presentation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 wrap="square">
            <a:normAutofit/>
          </a:bodyPr>
          <a:lstStyle/>
          <a:p>
            <a:pPr/>
            <a:r>
              <a:rPr sz="2800" b="1">
                <a:latin typeface="Times New Roman"/>
              </a:rPr>
              <a:t>Technology Used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000" y="370589"/>
            <a:ext cx="8200000" cy="830997"/>
          </a:xfrm>
        </p:spPr>
        <p:txBody>
          <a:bodyPr wrap="square">
            <a:normAutofit/>
          </a:bodyPr>
          <a:lstStyle/>
          <a:p>
            <a:pPr/>
            <a:r>
              <a:rPr sz="2800" b="1">
                <a:latin typeface="Times New Roman"/>
              </a:rPr>
              <a:t>RESULTS 1: Data and Visit Pattern</a:t>
            </a:r>
            <a:endParaRPr lang="en-IN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19D8AC7-3787-4ADB-9212-0808F015C2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80000" y="1130000"/>
            <a:ext cx="8200000" cy="500000"/>
          </a:xfrm>
        </p:spPr>
        <p:txBody>
          <a:bodyPr wrap="square"/>
          <a:lstStyle/>
          <a:p>
            <a:pPr marL="0" indent="0">
              <a:buNone/>
            </a:pPr>
            <a:r>
              <a:rPr sz="1600">
                <a:latin typeface="Times New Roman"/>
              </a:rPr>
              <a:t>79.8% of people had no doctor visit. A few heavy users account for a large share of all visits.</a:t>
            </a:r>
            <a:endParaRPr lang="en-IN" dirty="0"/>
          </a:p>
        </p:txBody>
      </p:sp>
      <p:pic>
        <p:nvPicPr>
          <p:cNvPr id="31" name="Picture 30" descr="fig1_outco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000" y="2050000"/>
            <a:ext cx="8200000" cy="2860254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80000" y="5000000"/>
            <a:ext cx="8200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400"/>
              </a:spcAft>
              <a:buChar char="•"/>
            </a:pPr>
            <a:r>
              <a:rPr sz="1500" b="0">
                <a:latin typeface="Times New Roman"/>
              </a:rPr>
              <a:t>5,190 people, 13 columns, 0 missing values, 0 duplicate rows. I did no cleaning.</a:t>
            </a:r>
          </a:p>
          <a:p>
            <a:pPr marL="228600" indent="-228600">
              <a:spcAft>
                <a:spcPts val="400"/>
              </a:spcAft>
              <a:buChar char="•"/>
            </a:pPr>
            <a:r>
              <a:rPr sz="1500" b="0">
                <a:latin typeface="Times New Roman"/>
              </a:rPr>
              <a:t>Mean 0.30 visits, maximum 9. 1,049 people (20.2%) visited at least once and averaged 1.49 visits.</a:t>
            </a:r>
          </a:p>
          <a:p>
            <a:pPr marL="228600" indent="-228600">
              <a:spcAft>
                <a:spcPts val="400"/>
              </a:spcAft>
              <a:buChar char="•"/>
            </a:pPr>
            <a:r>
              <a:rPr sz="1500" b="0">
                <a:latin typeface="Times New Roman"/>
              </a:rPr>
              <a:t>93 people (1.8%) made 3 or more visits. They account for 436 of the 1,566 visits (27.8%).</a:t>
            </a:r>
          </a:p>
        </p:txBody>
      </p:sp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000" y="350000"/>
            <a:ext cx="8300000" cy="800000"/>
          </a:xfrm>
          <a:prstGeom prst="rect">
            <a:avLst/>
          </a:prstGeom>
        </p:spPr>
        <p:txBody>
          <a:bodyPr anchor="ctr" wrap="square">
            <a:normAutofit fontScale="90000"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Times New Roman"/>
              </a:rPr>
              <a:t>Limitations, Future Scope and Thank You</a:t>
            </a:r>
            <a:endParaRPr lang="en-US" sz="4800" b="1" dirty="0">
              <a:solidFill>
                <a:schemeClr val="tx1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300000" y="1250000"/>
            <a:ext cx="7600000" cy="3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600" b="1">
                <a:latin typeface="Times New Roman"/>
              </a:rPr>
              <a:t>Limitations</a:t>
            </a:r>
          </a:p>
          <a:p>
            <a:pPr marL="228600" indent="-228600">
              <a:spcAft>
                <a:spcPts val="400"/>
              </a:spcAft>
              <a:buChar char="•"/>
            </a:pPr>
            <a:r>
              <a:rPr sz="1600" b="0">
                <a:latin typeface="Times New Roman"/>
              </a:rPr>
              <a:t>One snapshot of data, so the results show associations and no cause can be proven.</a:t>
            </a:r>
          </a:p>
          <a:p>
            <a:pPr marL="228600" indent="-228600">
              <a:spcAft>
                <a:spcPts val="400"/>
              </a:spcAft>
              <a:buChar char="•"/>
            </a:pPr>
            <a:r>
              <a:rPr sz="1600" b="0">
                <a:latin typeface="Times New Roman"/>
              </a:rPr>
              <a:t>The guide does not state the period behind 'visits' or the units of age and income. I assumed age = years / 100.</a:t>
            </a:r>
          </a:p>
          <a:p>
            <a:pPr marL="228600" indent="-228600">
              <a:spcAft>
                <a:spcPts val="400"/>
              </a:spcAft>
              <a:buChar char="•"/>
            </a:pPr>
            <a:r>
              <a:rPr sz="1600" b="0">
                <a:latin typeface="Times New Roman"/>
              </a:rPr>
              <a:t>Free-poor cover covers only 222 people, so its estimate is uncertain. Most visit counts are zero.</a:t>
            </a:r>
          </a:p>
          <a:p>
            <a:pPr>
              <a:spcBef>
                <a:spcPts val="600"/>
              </a:spcBef>
              <a:spcAft>
                <a:spcPts val="400"/>
              </a:spcAft>
            </a:pPr>
            <a:r>
              <a:rPr sz="1600" b="1">
                <a:latin typeface="Times New Roman"/>
              </a:rPr>
              <a:t>Future scope</a:t>
            </a:r>
          </a:p>
          <a:p>
            <a:pPr marL="228600" indent="-228600">
              <a:spcAft>
                <a:spcPts val="400"/>
              </a:spcAft>
              <a:buChar char="•"/>
            </a:pPr>
            <a:r>
              <a:rPr sz="1600" b="0">
                <a:latin typeface="Times New Roman"/>
              </a:rPr>
              <a:t>Fit a count model built for many zeros (zero-inflated Poisson or negative binomial).</a:t>
            </a:r>
          </a:p>
          <a:p>
            <a:pPr marL="228600" indent="-228600">
              <a:spcAft>
                <a:spcPts val="400"/>
              </a:spcAft>
              <a:buChar char="•"/>
            </a:pPr>
            <a:r>
              <a:rPr sz="1600" b="0">
                <a:latin typeface="Times New Roman"/>
              </a:rPr>
              <a:t>Add cost, diagnosis and access-to-care data, and confirm the variable definitions with the data owner.</a:t>
            </a:r>
          </a:p>
          <a:p>
            <a:pPr marL="228600" indent="-228600">
              <a:spcAft>
                <a:spcPts val="400"/>
              </a:spcAft>
              <a:buChar char="•"/>
            </a:pPr>
            <a:r>
              <a:rPr sz="1600" b="0">
                <a:latin typeface="Times New Roman"/>
              </a:rPr>
              <a:t>Build a dashboard where planners filter by age, health and coverage group.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00000" y="5100000"/>
            <a:ext cx="76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latin typeface="Times New Roman"/>
              </a:rPr>
              <a:t>Code, notebook and data: </a:t>
            </a:r>
            <a:r>
              <a:rPr sz="1400" b="0">
                <a:latin typeface="Times New Roman"/>
                <a:hlinkClick r:id="rId3"/>
              </a:rPr>
              <a:t>github.com/Om777-Stack/Healthcare-Analytics-Doctor-Visits-TIRTC</a:t>
            </a:r>
          </a:p>
          <a:p>
            <a:pPr>
              <a:spcBef>
                <a:spcPts val="600"/>
              </a:spcBef>
            </a:pPr>
            <a:r>
              <a:rPr sz="1600" b="1">
                <a:latin typeface="Times New Roman"/>
              </a:rPr>
              <a:t>Thank you. Om Chandrakant Bagal, COEP Technological University</a:t>
            </a:r>
          </a:p>
        </p:txBody>
      </p:sp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f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000" y="370589"/>
            <a:ext cx="8200000" cy="830997"/>
          </a:xfrm>
        </p:spPr>
        <p:txBody>
          <a:bodyPr wrap="square">
            <a:normAutofit/>
          </a:bodyPr>
          <a:lstStyle/>
          <a:p>
            <a:pPr/>
            <a:r>
              <a:rPr sz="2800" b="1">
                <a:latin typeface="Times New Roman"/>
              </a:rPr>
              <a:t>RESULTS 2: Health Indicators</a:t>
            </a:r>
            <a:endParaRPr lang="en-IN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19D8AC7-3787-4ADB-9212-0808F015C2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80000" y="1130000"/>
            <a:ext cx="8200000" cy="500000"/>
          </a:xfrm>
        </p:spPr>
        <p:txBody>
          <a:bodyPr wrap="square"/>
          <a:lstStyle/>
          <a:p>
            <a:pPr marL="0" indent="0">
              <a:buNone/>
            </a:pPr>
            <a:r>
              <a:rPr sz="1600">
                <a:latin typeface="Times New Roman"/>
              </a:rPr>
              <a:t>More illnesses, more lost activity days and a worse health score all go with more visits.</a:t>
            </a:r>
            <a:endParaRPr lang="en-IN" dirty="0"/>
          </a:p>
        </p:txBody>
      </p:sp>
      <p:pic>
        <p:nvPicPr>
          <p:cNvPr id="11" name="Picture 10" descr="fig5_heal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000" y="2050000"/>
            <a:ext cx="8200000" cy="308972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80000" y="5150000"/>
            <a:ext cx="8200000" cy="1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400"/>
              </a:spcAft>
              <a:buChar char="•"/>
            </a:pPr>
            <a:r>
              <a:rPr sz="1400" b="0">
                <a:latin typeface="Times New Roman"/>
              </a:rPr>
              <a:t>Share visiting: 6.8% with 0 illnesses, 41.9% with 5. 15.2% with no lost activity days, 69.4% with 8-13 days.</a:t>
            </a:r>
          </a:p>
          <a:p>
            <a:pPr marL="228600" indent="-228600">
              <a:spcAft>
                <a:spcPts val="400"/>
              </a:spcAft>
              <a:buChar char="•"/>
            </a:pPr>
            <a:r>
              <a:rPr sz="1400" b="0">
                <a:latin typeface="Times New Roman"/>
              </a:rPr>
              <a:t>Spearman correlation with visits: lost days 0.34, illnesses 0.26, health score 0.18 (all p &lt; 0.001).</a:t>
            </a:r>
          </a:p>
          <a:p>
            <a:pPr marL="228600" indent="-228600">
              <a:spcAft>
                <a:spcPts val="400"/>
              </a:spcAft>
              <a:buChar char="•"/>
            </a:pPr>
            <a:r>
              <a:rPr sz="1400" b="0">
                <a:latin typeface="Times New Roman"/>
              </a:rPr>
              <a:t>Age and income links are weaker: 14.7% visited at 25 or under vs 30.2% at 66+; 25.6% in the lowest income quartile vs 15.7% in the highest.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f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000" y="370589"/>
            <a:ext cx="8200000" cy="830997"/>
          </a:xfrm>
        </p:spPr>
        <p:txBody>
          <a:bodyPr wrap="square">
            <a:normAutofit/>
          </a:bodyPr>
          <a:lstStyle/>
          <a:p>
            <a:pPr/>
            <a:r>
              <a:rPr sz="2800" b="1">
                <a:latin typeface="Times New Roman"/>
              </a:rPr>
              <a:t>RESULTS 3: Gender, Coverage, Chronic Groups</a:t>
            </a:r>
            <a:endParaRPr lang="en-IN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19D8AC7-3787-4ADB-9212-0808F015C2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80000" y="1130000"/>
            <a:ext cx="8200000" cy="800000"/>
          </a:xfrm>
        </p:spPr>
        <p:txBody>
          <a:bodyPr wrap="square"/>
          <a:lstStyle/>
          <a:p>
            <a:pPr marL="0" indent="0">
              <a:buNone/>
            </a:pPr>
            <a:r>
              <a:rPr sz="1600">
                <a:latin typeface="Times New Roman"/>
              </a:rPr>
              <a:t>Women, people with free-repatriation cover and people with a limiting chronic condition visit more. Private cover shows no difference.</a:t>
            </a:r>
            <a:endParaRPr lang="en-IN" dirty="0"/>
          </a:p>
        </p:txBody>
      </p:sp>
      <p:pic>
        <p:nvPicPr>
          <p:cNvPr id="11" name="Picture 10" descr="fig6_fla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000" y="2050000"/>
            <a:ext cx="8200000" cy="429027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f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000" y="370589"/>
            <a:ext cx="8200000" cy="830997"/>
          </a:xfrm>
        </p:spPr>
        <p:txBody>
          <a:bodyPr wrap="square">
            <a:normAutofit/>
          </a:bodyPr>
          <a:lstStyle/>
          <a:p>
            <a:pPr/>
            <a:r>
              <a:rPr sz="2800" b="1">
                <a:latin typeface="Times New Roman"/>
              </a:rPr>
              <a:t>RESULTS 4: Adjusted Analysis</a:t>
            </a:r>
            <a:endParaRPr lang="en-IN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19D8AC7-3787-4ADB-9212-0808F015C2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80000" y="1130000"/>
            <a:ext cx="8200000" cy="700000"/>
          </a:xfrm>
        </p:spPr>
        <p:txBody>
          <a:bodyPr wrap="square"/>
          <a:lstStyle/>
          <a:p>
            <a:pPr marL="0" indent="0">
              <a:buNone/>
            </a:pPr>
            <a:r>
              <a:rPr sz="1600">
                <a:latin typeface="Times New Roman"/>
              </a:rPr>
              <a:t>With all variables held fixed together, health measures, gender and coverage type still go with visits.</a:t>
            </a:r>
            <a:endParaRPr lang="en-IN" dirty="0"/>
          </a:p>
        </p:txBody>
      </p:sp>
      <p:pic>
        <p:nvPicPr>
          <p:cNvPr id="11" name="Picture 10" descr="fig9_adjus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000" y="2050000"/>
            <a:ext cx="4600000" cy="283814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00000" y="2150000"/>
            <a:ext cx="3500000" cy="3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500"/>
              </a:spcAft>
              <a:buChar char="•"/>
            </a:pPr>
            <a:r>
              <a:rPr sz="1400" b="0">
                <a:latin typeface="Times New Roman"/>
              </a:rPr>
              <a:t>Still significant: illness (odds ratio 1.31 per illness), lost days (1.17 per day), health score (1.06), male (0.77), free-repatriation cover (1.52), free-poor cover (0.50, only 222 people).</a:t>
            </a:r>
          </a:p>
          <a:p>
            <a:pPr marL="228600" indent="-228600">
              <a:spcAft>
                <a:spcPts val="500"/>
              </a:spcAft>
              <a:buChar char="•"/>
            </a:pPr>
            <a:r>
              <a:rPr sz="1400" b="0">
                <a:latin typeface="Times New Roman"/>
              </a:rPr>
              <a:t>Weaker: the chronic-limitation gap falls from 35.0% vs 18.3% to an odds ratio of 1.27 (p = 0.059). Age and income lose significance.</a:t>
            </a:r>
          </a:p>
          <a:p>
            <a:pPr marL="228600" indent="-228600">
              <a:spcAft>
                <a:spcPts val="500"/>
              </a:spcAft>
              <a:buChar char="•"/>
            </a:pPr>
            <a:r>
              <a:rPr sz="1400" b="0">
                <a:latin typeface="Times New Roman"/>
              </a:rPr>
              <a:t>Private cover: no raw gap, but an odds ratio of 1.30 after adjustment. Treat with caution.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0000" y="5150000"/>
            <a:ext cx="8200000" cy="1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400"/>
              </a:spcAft>
              <a:buChar char="•"/>
            </a:pPr>
            <a:r>
              <a:rPr sz="1400" b="0">
                <a:latin typeface="Times New Roman"/>
              </a:rPr>
              <a:t>Health measures give the clearest signal: illness, lost activity days and health score.</a:t>
            </a:r>
          </a:p>
          <a:p>
            <a:pPr marL="228600" indent="-228600">
              <a:spcAft>
                <a:spcPts val="400"/>
              </a:spcAft>
              <a:buChar char="•"/>
            </a:pPr>
            <a:r>
              <a:rPr sz="1400" b="0">
                <a:latin typeface="Times New Roman"/>
              </a:rPr>
              <a:t>The model explains little (pseudo R-squared 0.13). Most of what decides who visits is not in this data.</a:t>
            </a:r>
          </a:p>
          <a:p>
            <a:pPr marL="228600" indent="-228600">
              <a:spcAft>
                <a:spcPts val="400"/>
              </a:spcAft>
              <a:buChar char="•"/>
            </a:pPr>
            <a:r>
              <a:rPr sz="1400" b="0">
                <a:latin typeface="Times New Roman"/>
              </a:rPr>
              <a:t>Odds ratios compare people who differ by one illness, one lost day, one score point or 10 years of age.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549</TotalTime>
  <Words>36</Words>
  <Application>Microsoft Office PowerPoint</Application>
  <PresentationFormat>Widescreen</PresentationFormat>
  <Paragraphs>13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Trebuchet MS</vt:lpstr>
      <vt:lpstr>Wingdings</vt:lpstr>
      <vt:lpstr>Wingdings 3</vt:lpstr>
      <vt:lpstr>Facet</vt:lpstr>
      <vt:lpstr>Project Title -</vt:lpstr>
      <vt:lpstr>PROBLEM  STATEMENT</vt:lpstr>
      <vt:lpstr>Project Description [write detail description about your project ]  </vt:lpstr>
      <vt:lpstr>WHO ARE THE END USERS?</vt:lpstr>
      <vt:lpstr>Technology Used</vt:lpstr>
      <vt:lpstr>RESULTS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hp</cp:lastModifiedBy>
  <cp:revision>73</cp:revision>
  <dcterms:created xsi:type="dcterms:W3CDTF">2021-07-11T13:13:15Z</dcterms:created>
  <dcterms:modified xsi:type="dcterms:W3CDTF">2023-12-29T05:01:43Z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